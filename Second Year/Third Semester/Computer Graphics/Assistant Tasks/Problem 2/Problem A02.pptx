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798" r:id="rId1"/>
  </p:sldMasterIdLst>
  <p:notesMasterIdLst>
    <p:notesMasterId r:id="rId11"/>
  </p:notesMasterIdLst>
  <p:sldIdLst>
    <p:sldId id="308" r:id="rId2"/>
    <p:sldId id="293" r:id="rId3"/>
    <p:sldId id="309" r:id="rId4"/>
    <p:sldId id="310" r:id="rId5"/>
    <p:sldId id="311" r:id="rId6"/>
    <p:sldId id="312" r:id="rId7"/>
    <p:sldId id="306" r:id="rId8"/>
    <p:sldId id="295" r:id="rId9"/>
    <p:sldId id="307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Sofia Sans" panose="020B0604020202020204" charset="0"/>
      <p:regular r:id="rId20"/>
      <p:bold r:id="rId21"/>
      <p:italic r:id="rId22"/>
      <p:boldItalic r:id="rId23"/>
    </p:embeddedFont>
    <p:embeddedFont>
      <p:font typeface="Sofia Sans ExtraBold" panose="020B0604020202020204" charset="0"/>
      <p:bold r:id="rId24"/>
      <p:boldItalic r:id="rId25"/>
    </p:embeddedFont>
    <p:embeddedFont>
      <p:font typeface="Sofia Sans Semi Condensed Light" panose="020B0604020202020204" charset="0"/>
      <p:regular r:id="rId26"/>
      <p:italic r:id="rId27"/>
    </p:embeddedFont>
  </p:embeddedFont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C6D"/>
    <a:srgbClr val="FF0000"/>
    <a:srgbClr val="FFFFFF"/>
    <a:srgbClr val="4A7EBB"/>
    <a:srgbClr val="FF5050"/>
    <a:srgbClr val="0070C0"/>
    <a:srgbClr val="00CC00"/>
    <a:srgbClr val="FF9999"/>
    <a:srgbClr val="333333"/>
    <a:srgbClr val="36D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ен стил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ен стил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 autoAdjust="0"/>
    <p:restoredTop sz="84808" autoAdjust="0"/>
  </p:normalViewPr>
  <p:slideViewPr>
    <p:cSldViewPr>
      <p:cViewPr varScale="1">
        <p:scale>
          <a:sx n="112" d="100"/>
          <a:sy n="112" d="100"/>
        </p:scale>
        <p:origin x="658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24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47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9F6F8-DC93-4263-BA57-AD9D4385C8E5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F2DB0-B490-4B71-886B-D4923F0888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99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F2DB0-B490-4B71-886B-D4923F08889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2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0">
            <a:extLst>
              <a:ext uri="{FF2B5EF4-FFF2-40B4-BE49-F238E27FC236}">
                <a16:creationId xmlns:a16="http://schemas.microsoft.com/office/drawing/2014/main" id="{85A40E58-B430-4533-8051-C90B1C19A60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2343150"/>
            <a:ext cx="9144000" cy="457200"/>
          </a:xfrm>
          <a:prstGeom prst="rect">
            <a:avLst/>
          </a:prstGeom>
        </p:spPr>
        <p:txBody>
          <a:bodyPr/>
          <a:lstStyle>
            <a:lvl1pPr algn="ctr"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fia Sans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bg-BG" dirty="0"/>
              <a:t>Номер на лекция</a:t>
            </a:r>
            <a:endParaRPr lang="en-US" dirty="0"/>
          </a:p>
        </p:txBody>
      </p:sp>
      <p:sp>
        <p:nvSpPr>
          <p:cNvPr id="6" name="Content Placeholder 30">
            <a:extLst>
              <a:ext uri="{FF2B5EF4-FFF2-40B4-BE49-F238E27FC236}">
                <a16:creationId xmlns:a16="http://schemas.microsoft.com/office/drawing/2014/main" id="{E8672C1F-410B-49D5-AA60-93E4D4D082B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0" y="1695450"/>
            <a:ext cx="9144000" cy="8001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buNone/>
              <a:defRPr sz="4400" b="1">
                <a:solidFill>
                  <a:schemeClr val="tx1"/>
                </a:solidFill>
                <a:effectLst/>
                <a:latin typeface="Sofia Sans" pitchFamily="2" charset="0"/>
                <a:ea typeface="Roboto SemiBold" panose="02000000000000000000" pitchFamily="2" charset="0"/>
              </a:defRPr>
            </a:lvl1pPr>
          </a:lstStyle>
          <a:p>
            <a:pPr lvl="0"/>
            <a:r>
              <a:rPr lang="bg-BG" dirty="0"/>
              <a:t>Заглавие 1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9EFA0-F942-49BD-ADCD-86129E7C3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9338" y="296863"/>
            <a:ext cx="1965325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21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23950"/>
            <a:ext cx="8686800" cy="3733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defRPr sz="2800" b="1">
                <a:effectLst/>
                <a:latin typeface="Sofia Sans" pitchFamily="2" charset="0"/>
                <a:ea typeface="Open Sans" pitchFamily="2" charset="0"/>
                <a:cs typeface="Open Sans" pitchFamily="2" charset="0"/>
              </a:defRPr>
            </a:lvl1pPr>
            <a:lvl2pPr marL="742931" indent="-285743">
              <a:spcBef>
                <a:spcPts val="0"/>
              </a:spcBef>
              <a:buFont typeface="Calibri" pitchFamily="34" charset="0"/>
              <a:buChar char="–"/>
              <a:def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2pPr>
            <a:lvl3pPr marL="746106" indent="0">
              <a:spcBef>
                <a:spcPts val="0"/>
              </a:spcBef>
              <a:buFont typeface="Sofia Sans Semi Condensed Light" pitchFamily="2" charset="0"/>
              <a:buNone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3pPr>
            <a:lvl4pPr marL="1085823" indent="-173034">
              <a:spcBef>
                <a:spcPts val="0"/>
              </a:spcBef>
              <a:buFont typeface="Sofia Sans Semi Condensed Light" pitchFamily="2" charset="0"/>
              <a:buChar char="–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Roboto" panose="02000000000000000000" pitchFamily="2" charset="0"/>
              </a:defRPr>
            </a:lvl4pPr>
            <a:lvl5pPr>
              <a:defRPr sz="2000">
                <a:effectLst/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742931" lvl="1" indent="-285743" algn="l" defTabSz="914378" rtl="0" eaLnBrk="1" latinLnBrk="0" hangingPunct="1">
              <a:spcBef>
                <a:spcPts val="300"/>
              </a:spcBef>
              <a:buFont typeface="Calibri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 err="1"/>
              <a:t>sss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33350"/>
            <a:ext cx="8686800" cy="781050"/>
          </a:xfrm>
          <a:noFill/>
        </p:spPr>
        <p:txBody>
          <a:bodyPr>
            <a:normAutofit/>
          </a:bodyPr>
          <a:lstStyle>
            <a:lvl1pPr algn="l">
              <a:defRPr sz="4000" b="1">
                <a:effectLst/>
                <a:latin typeface="Sofia Sans ExtraBold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1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33350"/>
            <a:ext cx="8686800" cy="47244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defRPr lang="en-US" sz="2800" b="1" kern="1200" dirty="0">
                <a:solidFill>
                  <a:schemeClr val="tx1"/>
                </a:solidFill>
                <a:effectLst/>
                <a:latin typeface="Sofia Sans" pitchFamily="2" charset="0"/>
                <a:ea typeface="Open Sans" pitchFamily="2" charset="0"/>
                <a:cs typeface="Open Sans" pitchFamily="2" charset="0"/>
              </a:defRPr>
            </a:lvl1pPr>
            <a:lvl2pPr marL="742931" indent="-285743" algn="l" defTabSz="914378" rtl="0" eaLnBrk="1" latinLnBrk="0" hangingPunct="1">
              <a:spcBef>
                <a:spcPts val="0"/>
              </a:spcBef>
              <a:buFont typeface="Calibri" pitchFamily="34" charset="0"/>
              <a:buChar char="–"/>
              <a:def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spcBef>
                <a:spcPts val="0"/>
              </a:spcBef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3pPr>
            <a:lvl4pPr marL="1255681" indent="-342892">
              <a:spcBef>
                <a:spcPts val="0"/>
              </a:spcBef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Roboto" panose="02000000000000000000" pitchFamily="2" charset="0"/>
                <a:cs typeface="+mn-cs"/>
              </a:defRPr>
            </a:lvl4pPr>
            <a:lvl5pPr>
              <a:defRPr sz="2000">
                <a:effectLst/>
                <a:latin typeface="+mn-lt"/>
              </a:defRPr>
            </a:lvl5pPr>
          </a:lstStyle>
          <a:p>
            <a:pPr marL="0" lvl="0" indent="0" algn="l" defTabSz="914378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Click to edit Master text styles</a:t>
            </a:r>
          </a:p>
          <a:p>
            <a:pPr marL="742931" lvl="1" indent="-285743" algn="l" defTabSz="914378" rtl="0" eaLnBrk="1" latinLnBrk="0" hangingPunct="1">
              <a:spcBef>
                <a:spcPts val="300"/>
              </a:spcBef>
              <a:buFont typeface="Calibri" pitchFamily="34" charset="0"/>
              <a:buChar char="–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1085823" lvl="3" indent="-173034" algn="l" defTabSz="914378" rtl="0" eaLnBrk="1" latinLnBrk="0" hangingPunct="1">
              <a:spcBef>
                <a:spcPts val="600"/>
              </a:spcBef>
              <a:buFont typeface="Sofia Sans Semi Condensed Light" pitchFamily="2" charset="0"/>
              <a:buChar char="–"/>
            </a:pPr>
            <a:r>
              <a:rPr lang="en-US" dirty="0" err="1"/>
              <a:t>sss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387975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in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14300"/>
            <a:ext cx="8686800" cy="49149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 b="1" kern="1200" dirty="0">
                <a:solidFill>
                  <a:schemeClr val="tx1"/>
                </a:solidFill>
                <a:effectLst/>
                <a:latin typeface="Sofia Sans" pitchFamily="2" charset="0"/>
                <a:ea typeface="Open Sans" pitchFamily="2" charset="0"/>
                <a:cs typeface="Open Sans" pitchFamily="2" charset="0"/>
              </a:defRPr>
            </a:lvl1pPr>
            <a:lvl2pPr marL="600075" indent="-257175">
              <a:buFont typeface="Sofia Sans Semi Condensed Light" pitchFamily="2" charset="0"/>
              <a:buChar char="–"/>
              <a:defRPr lang="en-US" sz="2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lang="en-US" sz="1800" b="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Open Sans Light" pitchFamily="2" charset="0"/>
                <a:cs typeface="Open Sans Light" pitchFamily="2" charset="0"/>
              </a:defRPr>
            </a:lvl3pPr>
            <a:lvl4pPr marL="898922" indent="-214313">
              <a:buFont typeface="Sofia Sans Semi Condensed Light" pitchFamily="2" charset="0"/>
              <a:buChar char="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Semi Condensed Light" pitchFamily="2" charset="0"/>
                <a:ea typeface="Roboto" panose="02000000000000000000" pitchFamily="2" charset="0"/>
                <a:cs typeface="+mn-cs"/>
              </a:defRPr>
            </a:lvl4pPr>
          </a:lstStyle>
          <a:p>
            <a:pPr marL="0" lvl="0" indent="0" defTabSz="685800">
              <a:spcBef>
                <a:spcPts val="900"/>
              </a:spcBef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300"/>
              </a:spcBef>
              <a:buFont typeface="Calibri" pitchFamily="34" charset="0"/>
              <a:buChar char="–"/>
            </a:pPr>
            <a:r>
              <a:rPr lang="en-US" dirty="0"/>
              <a:t>Second level</a:t>
            </a:r>
          </a:p>
          <a:p>
            <a:pPr marL="746125" lvl="2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Third level</a:t>
            </a:r>
          </a:p>
          <a:p>
            <a:pPr marL="1085850" lvl="3" indent="-173038" algn="l" defTabSz="914400" rtl="0" eaLnBrk="1" latinLnBrk="0" hangingPunct="1">
              <a:spcBef>
                <a:spcPts val="0"/>
              </a:spcBef>
              <a:buFont typeface="Sofia Sans Semi Condensed Light" pitchFamily="2" charset="0"/>
              <a:buChar char="–"/>
            </a:pPr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56401428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algn="ctr">
              <a:defRPr sz="5400" b="0">
                <a:effectLst/>
                <a:latin typeface="Sofia Sans ExtraBold" pitchFamily="2" charset="0"/>
                <a:ea typeface="Roboto SemiBold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548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28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Click to edit Master text styles</a:t>
            </a:r>
          </a:p>
          <a:p>
            <a:pPr marL="742950" lvl="1" indent="-285750" algn="l" defTabSz="914400" rtl="0" eaLnBrk="1" latinLnBrk="0" hangingPunct="1">
              <a:spcBef>
                <a:spcPts val="300"/>
              </a:spcBef>
              <a:buFont typeface="Calibri" pitchFamily="34" charset="0"/>
              <a:buChar char="–"/>
            </a:pPr>
            <a:r>
              <a:rPr lang="en-US" dirty="0"/>
              <a:t>Second level</a:t>
            </a:r>
          </a:p>
          <a:p>
            <a:pPr marL="746125" lvl="2" indent="0" algn="l" defTabSz="914400" rtl="0" eaLnBrk="1" latinLnBrk="0" hangingPunct="1">
              <a:spcBef>
                <a:spcPts val="0"/>
              </a:spcBef>
              <a:buFont typeface="Sofia Sans Semi Condensed Light" pitchFamily="2" charset="0"/>
              <a:buNone/>
            </a:pPr>
            <a:r>
              <a:rPr lang="en-US" dirty="0"/>
              <a:t>Third level</a:t>
            </a:r>
          </a:p>
          <a:p>
            <a:pPr marL="1085823" lvl="3" indent="-173034" algn="l" defTabSz="914378" rtl="0" eaLnBrk="1" latinLnBrk="0" hangingPunct="1">
              <a:spcBef>
                <a:spcPts val="0"/>
              </a:spcBef>
              <a:buFont typeface="Sofia Sans Semi Condensed Light" pitchFamily="2" charset="0"/>
              <a:buChar char="–"/>
            </a:pPr>
            <a:r>
              <a:rPr lang="en-US" dirty="0" err="1"/>
              <a:t>sss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8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5" r:id="rId4"/>
    <p:sldLayoutId id="2147483802" r:id="rId5"/>
    <p:sldLayoutId id="2147483803" r:id="rId6"/>
  </p:sldLayoutIdLst>
  <p:txStyles>
    <p:titleStyle>
      <a:lvl1pPr algn="l" defTabSz="914378" rtl="0" eaLnBrk="1" latinLnBrk="0" hangingPunct="1">
        <a:spcBef>
          <a:spcPct val="0"/>
        </a:spcBef>
        <a:buNone/>
        <a:defRPr lang="en-US" sz="4000" b="1" kern="1200" spc="-100" baseline="0" dirty="0">
          <a:solidFill>
            <a:schemeClr val="tx1"/>
          </a:solidFill>
          <a:effectLst/>
          <a:latin typeface="Sofia Sans ExtraBold" pitchFamily="2" charset="0"/>
          <a:ea typeface="Open Sans" pitchFamily="2" charset="0"/>
          <a:cs typeface="Open Sans" pitchFamily="2" charset="0"/>
        </a:defRPr>
      </a:lvl1pPr>
    </p:titleStyle>
    <p:bodyStyle>
      <a:lvl1pPr marL="0" indent="0" algn="l" defTabSz="914378" rtl="0" eaLnBrk="1" latinLnBrk="0" hangingPunct="1">
        <a:spcBef>
          <a:spcPct val="20000"/>
        </a:spcBef>
        <a:buFont typeface="Arial" pitchFamily="34" charset="0"/>
        <a:buNone/>
        <a:defRPr lang="en-US" sz="2800" b="1" kern="1200" dirty="0">
          <a:solidFill>
            <a:schemeClr val="tx1"/>
          </a:solidFill>
          <a:effectLst/>
          <a:latin typeface="Sofia Sans" pitchFamily="2" charset="0"/>
          <a:ea typeface="Open Sans" pitchFamily="2" charset="0"/>
          <a:cs typeface="Open Sans" pitchFamily="2" charset="0"/>
        </a:defRPr>
      </a:lvl1pPr>
      <a:lvl2pPr marL="800100" indent="-342900" algn="l" defTabSz="914378" rtl="0" eaLnBrk="1" latinLnBrk="0" hangingPunct="1">
        <a:spcBef>
          <a:spcPct val="20000"/>
        </a:spcBef>
        <a:buFont typeface="Arial" pitchFamily="34" charset="0"/>
        <a:buChar char="•"/>
        <a:defRPr lang="en-US" sz="2400" b="0" i="0" kern="1200" dirty="0">
          <a:solidFill>
            <a:schemeClr val="tx1">
              <a:lumMod val="75000"/>
              <a:lumOff val="25000"/>
            </a:schemeClr>
          </a:solidFill>
          <a:effectLst/>
          <a:latin typeface="Sofia Sans Semi Condensed Light" pitchFamily="2" charset="0"/>
          <a:ea typeface="Open Sans Light" pitchFamily="2" charset="0"/>
          <a:cs typeface="Open Sans Light" pitchFamily="2" charset="0"/>
        </a:defRPr>
      </a:lvl2pPr>
      <a:lvl3pPr marL="746106" indent="0" algn="l" defTabSz="914378" rtl="0" eaLnBrk="1" latinLnBrk="0" hangingPunct="1">
        <a:spcBef>
          <a:spcPts val="0"/>
        </a:spcBef>
        <a:buFont typeface="Arial" pitchFamily="34" charset="0"/>
        <a:buNone/>
        <a:defRPr lang="en-US" sz="1600" b="0" kern="1200" dirty="0">
          <a:solidFill>
            <a:schemeClr val="tx1">
              <a:lumMod val="65000"/>
              <a:lumOff val="35000"/>
            </a:schemeClr>
          </a:solidFill>
          <a:effectLst/>
          <a:latin typeface="Sofia Sans Semi Condensed Light" pitchFamily="2" charset="0"/>
          <a:ea typeface="Open Sans Light" pitchFamily="2" charset="0"/>
          <a:cs typeface="Open Sans Light" pitchFamily="2" charset="0"/>
        </a:defRPr>
      </a:lvl3pPr>
      <a:lvl4pPr marL="1255681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lang="en-US" sz="1600" kern="1200" dirty="0">
          <a:solidFill>
            <a:schemeClr val="tx1">
              <a:lumMod val="65000"/>
              <a:lumOff val="35000"/>
            </a:schemeClr>
          </a:solidFill>
          <a:effectLst/>
          <a:latin typeface="Sofia Sans Semi Condensed Light" pitchFamily="2" charset="0"/>
          <a:ea typeface="Roboto" panose="02000000000000000000" pitchFamily="2" charset="0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dirty="0"/>
              <a:t>Задача на асистента </a:t>
            </a:r>
            <a:r>
              <a:rPr lang="en-US"/>
              <a:t>A02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FB808-C658-49E8-9011-0F6739ED2CA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bg-BG" dirty="0"/>
              <a:t>Галактика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5C77C9F2-6F53-4CF3-B509-8CD7405665F2}"/>
              </a:ext>
            </a:extLst>
          </p:cNvPr>
          <p:cNvSpPr txBox="1">
            <a:spLocks/>
          </p:cNvSpPr>
          <p:nvPr/>
        </p:nvSpPr>
        <p:spPr>
          <a:xfrm>
            <a:off x="0" y="4885551"/>
            <a:ext cx="9144000" cy="25794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200" b="0" kern="1200" spc="0" noProof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ofia Sans ExtraLight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  <a:cs typeface="Lucida Sans Unicode" panose="020B0602030504020204" pitchFamily="34" charset="0"/>
              </a:defRPr>
            </a:lvl2pPr>
            <a:lvl3pPr marL="746125" indent="0" algn="l" defTabSz="914400" rtl="0" eaLnBrk="1" latinLnBrk="0" hangingPunct="1">
              <a:spcBef>
                <a:spcPts val="0"/>
              </a:spcBef>
              <a:buFont typeface="Arial" pitchFamily="34" charset="0"/>
              <a:buNone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Roboto ExtraLight" panose="02000000000000000000" pitchFamily="2" charset="0"/>
                <a:ea typeface="Roboto ExtraLight" panose="02000000000000000000" pitchFamily="2" charset="0"/>
                <a:cs typeface="Lucida Sans Unicode" panose="020B0602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dirty="0">
                <a:solidFill>
                  <a:prstClr val="black">
                    <a:lumMod val="65000"/>
                    <a:lumOff val="35000"/>
                  </a:prstClr>
                </a:solidFill>
                <a:latin typeface="Sofia Sans Semi Condensed Light" pitchFamily="2" charset="0"/>
              </a:rPr>
              <a:t>ОСНОВИ НА КОМПЮТЪРНАТА ГРАФИКА   •  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F35856-1C98-484A-83D7-B5716423DB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5" y="2938075"/>
            <a:ext cx="18097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5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590550"/>
            <a:ext cx="7848600" cy="3733800"/>
          </a:xfrm>
        </p:spPr>
        <p:txBody>
          <a:bodyPr lIns="90000" anchor="ctr">
            <a:normAutofit/>
          </a:bodyPr>
          <a:lstStyle/>
          <a:p>
            <a:pPr indent="-285743"/>
            <a:r>
              <a:rPr lang="ru-RU" sz="2400" b="0" dirty="0"/>
              <a:t>Миналата седмица гледахме филми, а сега ще си направим разходка в </a:t>
            </a:r>
            <a:r>
              <a:rPr lang="bg-BG" sz="2400" b="0" dirty="0"/>
              <a:t>галактиката</a:t>
            </a:r>
            <a:r>
              <a:rPr lang="ru-RU" sz="2400" b="0" dirty="0"/>
              <a:t>.</a:t>
            </a:r>
          </a:p>
          <a:p>
            <a:pPr indent="-285743"/>
            <a:r>
              <a:rPr lang="ru-RU" sz="2400" b="0" dirty="0"/>
              <a:t>Задачите за всяка група ще намерите на следващ</a:t>
            </a:r>
            <a:r>
              <a:rPr lang="bg-BG" sz="2400" b="0" dirty="0"/>
              <a:t>ите</a:t>
            </a:r>
            <a:r>
              <a:rPr lang="ru-RU" sz="2400" b="0" dirty="0"/>
              <a:t> слайдове – картинките са примерни, развихрете се и не ги следвайте стриктно. Прецизността в детайлите е по ваше усмотрение. </a:t>
            </a:r>
            <a:r>
              <a:rPr lang="ru-RU" sz="2400" b="0" u="sng" dirty="0"/>
              <a:t>Приемат се резултати и с по-ниско ниво на детайлност.</a:t>
            </a:r>
          </a:p>
        </p:txBody>
      </p:sp>
    </p:spTree>
    <p:extLst>
      <p:ext uri="{BB962C8B-B14F-4D97-AF65-F5344CB8AC3E}">
        <p14:creationId xmlns:p14="http://schemas.microsoft.com/office/powerpoint/2010/main" val="2253751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C8AAD7-DE2D-4347-BA5B-2CD6473D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18" y="495637"/>
            <a:ext cx="4144880" cy="533400"/>
          </a:xfrm>
        </p:spPr>
        <p:txBody>
          <a:bodyPr>
            <a:normAutofit/>
          </a:bodyPr>
          <a:lstStyle/>
          <a:p>
            <a:pPr algn="ctr"/>
            <a:r>
              <a:rPr lang="bg-BG" sz="2400" b="0" dirty="0"/>
              <a:t>Група </a:t>
            </a:r>
            <a:r>
              <a:rPr lang="en-US" sz="2400" b="0" dirty="0"/>
              <a:t>1 </a:t>
            </a:r>
            <a:r>
              <a:rPr lang="bg-BG" sz="2400" b="0" dirty="0"/>
              <a:t>- Космическа совалка</a:t>
            </a:r>
            <a:endParaRPr lang="en-GB" sz="2400" b="0" dirty="0"/>
          </a:p>
        </p:txBody>
      </p:sp>
      <p:pic>
        <p:nvPicPr>
          <p:cNvPr id="1026" name="Picture 2" descr="The Pros and Cons of NASA's Space Shuttle | Space Shuttle History">
            <a:extLst>
              <a:ext uri="{FF2B5EF4-FFF2-40B4-BE49-F238E27FC236}">
                <a16:creationId xmlns:a16="http://schemas.microsoft.com/office/drawing/2014/main" id="{99584744-A8A1-4EA4-848F-3AF63B03BE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58" y="1029037"/>
            <a:ext cx="3124200" cy="307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iangong space station - Wikipedia">
            <a:extLst>
              <a:ext uri="{FF2B5EF4-FFF2-40B4-BE49-F238E27FC236}">
                <a16:creationId xmlns:a16="http://schemas.microsoft.com/office/drawing/2014/main" id="{AE4DC840-5479-421B-AC77-494F31CE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389" y="1029037"/>
            <a:ext cx="3064042" cy="306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F55D6D8-7CFD-4955-9E08-5D704CD15401}"/>
              </a:ext>
            </a:extLst>
          </p:cNvPr>
          <p:cNvSpPr txBox="1">
            <a:spLocks/>
          </p:cNvSpPr>
          <p:nvPr/>
        </p:nvSpPr>
        <p:spPr>
          <a:xfrm>
            <a:off x="4564981" y="495637"/>
            <a:ext cx="4144880" cy="5334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378" rtl="0" eaLnBrk="1" latinLnBrk="0" hangingPunct="1">
              <a:spcBef>
                <a:spcPct val="0"/>
              </a:spcBef>
              <a:buNone/>
              <a:defRPr lang="en-US" sz="4000" b="1" kern="1200" spc="-100" baseline="0">
                <a:solidFill>
                  <a:schemeClr val="tx1"/>
                </a:solidFill>
                <a:effectLst/>
                <a:latin typeface="Sofia Sans ExtraBold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bg-BG" sz="2400" b="0" dirty="0"/>
              <a:t>Група </a:t>
            </a:r>
            <a:r>
              <a:rPr lang="en-US" sz="2400" b="0" dirty="0"/>
              <a:t>2 </a:t>
            </a:r>
            <a:r>
              <a:rPr lang="bg-BG" sz="2400" b="0" dirty="0"/>
              <a:t>- Космическа станция</a:t>
            </a:r>
            <a:endParaRPr lang="en-GB" sz="2400" b="0" dirty="0"/>
          </a:p>
        </p:txBody>
      </p:sp>
    </p:spTree>
    <p:extLst>
      <p:ext uri="{BB962C8B-B14F-4D97-AF65-F5344CB8AC3E}">
        <p14:creationId xmlns:p14="http://schemas.microsoft.com/office/powerpoint/2010/main" val="341030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6EA3A1E-6E69-4382-8196-0E4097D57649}"/>
              </a:ext>
            </a:extLst>
          </p:cNvPr>
          <p:cNvSpPr txBox="1">
            <a:spLocks/>
          </p:cNvSpPr>
          <p:nvPr/>
        </p:nvSpPr>
        <p:spPr>
          <a:xfrm>
            <a:off x="493630" y="542199"/>
            <a:ext cx="4194341" cy="46166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8" rtl="0" eaLnBrk="1" latinLnBrk="0" hangingPunct="1">
              <a:spcBef>
                <a:spcPct val="0"/>
              </a:spcBef>
              <a:buNone/>
              <a:defRPr lang="en-US" sz="4000" b="1" kern="1200" spc="-100" baseline="0" dirty="0">
                <a:solidFill>
                  <a:schemeClr val="tx1"/>
                </a:solidFill>
                <a:effectLst/>
                <a:latin typeface="Sofia Sans ExtraBold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bg-BG" sz="2400" b="0" dirty="0"/>
              <a:t>Група </a:t>
            </a:r>
            <a:r>
              <a:rPr lang="en-US" sz="2400" b="0" dirty="0"/>
              <a:t>3 </a:t>
            </a:r>
            <a:r>
              <a:rPr lang="bg-BG" sz="2400" b="0" dirty="0"/>
              <a:t>– Луноход</a:t>
            </a:r>
            <a:endParaRPr lang="en-GB" sz="24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980B0-4A02-4F31-8780-B5D6549C4DFA}"/>
              </a:ext>
            </a:extLst>
          </p:cNvPr>
          <p:cNvSpPr txBox="1"/>
          <p:nvPr/>
        </p:nvSpPr>
        <p:spPr>
          <a:xfrm>
            <a:off x="4424564" y="542200"/>
            <a:ext cx="3991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Група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 4</a:t>
            </a: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 – Марсоход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Sans ExtraBold" panose="020B0604020202020204" charset="0"/>
            </a:endParaRPr>
          </a:p>
        </p:txBody>
      </p:sp>
      <p:pic>
        <p:nvPicPr>
          <p:cNvPr id="1026" name="Picture 2" descr="This may contain: the vehicle is designed to look like it has two wheels and an umbrella on top">
            <a:extLst>
              <a:ext uri="{FF2B5EF4-FFF2-40B4-BE49-F238E27FC236}">
                <a16:creationId xmlns:a16="http://schemas.microsoft.com/office/drawing/2014/main" id="{89BCF25F-AD7D-4999-921C-031867FC9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75600"/>
            <a:ext cx="2992299" cy="299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is may contain: an artist's rendering of the curiosity rover on mars">
            <a:extLst>
              <a:ext uri="{FF2B5EF4-FFF2-40B4-BE49-F238E27FC236}">
                <a16:creationId xmlns:a16="http://schemas.microsoft.com/office/drawing/2014/main" id="{E83F1C65-0E53-42BD-A7CC-2DD9FCBC2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64" y="1075599"/>
            <a:ext cx="3991578" cy="299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07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931A4-790E-49FA-9E63-160AE7732751}"/>
              </a:ext>
            </a:extLst>
          </p:cNvPr>
          <p:cNvSpPr txBox="1"/>
          <p:nvPr/>
        </p:nvSpPr>
        <p:spPr>
          <a:xfrm>
            <a:off x="534403" y="77184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Група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5 </a:t>
            </a: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–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X-wing fighter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1570A-D778-45B8-A929-8E5C2D5BBB69}"/>
              </a:ext>
            </a:extLst>
          </p:cNvPr>
          <p:cNvSpPr txBox="1"/>
          <p:nvPr/>
        </p:nvSpPr>
        <p:spPr>
          <a:xfrm>
            <a:off x="4724400" y="77184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Група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6 </a:t>
            </a: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–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TIE Fighter</a:t>
            </a:r>
          </a:p>
        </p:txBody>
      </p:sp>
      <p:pic>
        <p:nvPicPr>
          <p:cNvPr id="3078" name="Picture 6" descr="Stíhačka T-65 X-wing | Czech Star Wars Wiki | Fandom">
            <a:extLst>
              <a:ext uri="{FF2B5EF4-FFF2-40B4-BE49-F238E27FC236}">
                <a16:creationId xmlns:a16="http://schemas.microsoft.com/office/drawing/2014/main" id="{DC4AF5A2-3195-418E-8C98-604FB5200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45" y="1396315"/>
            <a:ext cx="4178598" cy="235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IE Fighter | Star Wars Rebels Wiki | Fandom">
            <a:extLst>
              <a:ext uri="{FF2B5EF4-FFF2-40B4-BE49-F238E27FC236}">
                <a16:creationId xmlns:a16="http://schemas.microsoft.com/office/drawing/2014/main" id="{AFC13117-7158-451D-9D12-6E423E94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03" y="1314707"/>
            <a:ext cx="2514085" cy="251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52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8F1E6C-2B4B-4086-AFA1-2A8C4D84E34D}"/>
              </a:ext>
            </a:extLst>
          </p:cNvPr>
          <p:cNvSpPr txBox="1"/>
          <p:nvPr/>
        </p:nvSpPr>
        <p:spPr>
          <a:xfrm>
            <a:off x="457199" y="6667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Група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7 </a:t>
            </a: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– Светлинен ме</a:t>
            </a:r>
            <a:r>
              <a:rPr lang="bg-BG" sz="2400" dirty="0">
                <a:solidFill>
                  <a:prstClr val="black"/>
                </a:solidFill>
                <a:latin typeface="Sofia Sans ExtraBold" panose="020B0604020202020204" charset="0"/>
              </a:rPr>
              <a:t>ч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Sans ExtraBold" panose="020B0604020202020204" charset="0"/>
            </a:endParaRPr>
          </a:p>
        </p:txBody>
      </p:sp>
      <p:pic>
        <p:nvPicPr>
          <p:cNvPr id="5124" name="Picture 4" descr="This may contain: a green light saber next to a black and white one with brown accents on it">
            <a:extLst>
              <a:ext uri="{FF2B5EF4-FFF2-40B4-BE49-F238E27FC236}">
                <a16:creationId xmlns:a16="http://schemas.microsoft.com/office/drawing/2014/main" id="{8EC4B142-D3E3-4FED-9853-1D64FC2C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4" y="1285875"/>
            <a:ext cx="2571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tory pin image">
            <a:extLst>
              <a:ext uri="{FF2B5EF4-FFF2-40B4-BE49-F238E27FC236}">
                <a16:creationId xmlns:a16="http://schemas.microsoft.com/office/drawing/2014/main" id="{D5BB2DC7-C67D-4367-8194-BD65D88DC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28" y="1057275"/>
            <a:ext cx="3028949" cy="3028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3A07A9-071F-467E-9F9C-F01E784C0B83}"/>
              </a:ext>
            </a:extLst>
          </p:cNvPr>
          <p:cNvSpPr txBox="1"/>
          <p:nvPr/>
        </p:nvSpPr>
        <p:spPr>
          <a:xfrm>
            <a:off x="4343402" y="6667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Група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8 </a:t>
            </a:r>
            <a:r>
              <a:rPr kumimoji="0" lang="bg-B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–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fia Sans ExtraBold" panose="020B0604020202020204" charset="0"/>
              </a:rPr>
              <a:t>R2-D2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fia Sans Extra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99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74E6F-AFB2-5751-3741-4636A51E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36E5-7AB3-4527-5544-72374C7C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Относно решенията:</a:t>
            </a:r>
          </a:p>
          <a:p>
            <a:pPr lvl="1"/>
            <a:r>
              <a:rPr lang="bg-BG" dirty="0"/>
              <a:t>да са с версията на </a:t>
            </a:r>
            <a:r>
              <a:rPr lang="en-US" dirty="0"/>
              <a:t>Three.js </a:t>
            </a:r>
            <a:r>
              <a:rPr lang="bg-BG" dirty="0"/>
              <a:t>от упражненията</a:t>
            </a:r>
            <a:br>
              <a:rPr lang="en-US" dirty="0"/>
            </a:br>
            <a:r>
              <a:rPr lang="bg-BG" dirty="0"/>
              <a:t>или по-нова версия</a:t>
            </a:r>
          </a:p>
          <a:p>
            <a:pPr lvl="1"/>
            <a:r>
              <a:rPr lang="bg-BG" dirty="0"/>
              <a:t>да включват библиотеките с </a:t>
            </a:r>
            <a:r>
              <a:rPr lang="en-US" dirty="0">
                <a:latin typeface="Sofia Sans" pitchFamily="2" charset="0"/>
              </a:rPr>
              <a:t>import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>
                <a:latin typeface="Sofia Sans" pitchFamily="2" charset="0"/>
              </a:rPr>
              <a:t>importmap</a:t>
            </a:r>
            <a:endParaRPr lang="bg-BG" dirty="0">
              <a:latin typeface="Sofia Sans" pitchFamily="2" charset="0"/>
            </a:endParaRPr>
          </a:p>
          <a:p>
            <a:pPr lvl="1"/>
            <a:r>
              <a:rPr lang="bg-BG" dirty="0"/>
              <a:t>да се пускат директно, без нужда от допълнителен софтуер/файл</a:t>
            </a:r>
          </a:p>
          <a:p>
            <a:pPr lvl="1"/>
            <a:r>
              <a:rPr lang="bg-BG" dirty="0"/>
              <a:t>да съдържат само поискания файл.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C74CC6-3C71-4D2E-CB8D-15A58A20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Допълнителни изисквания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97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Предаване</a:t>
            </a:r>
            <a:endParaRPr lang="en-US" dirty="0"/>
          </a:p>
          <a:p>
            <a:pPr lvl="1"/>
            <a:r>
              <a:rPr lang="bg-BG" dirty="0"/>
              <a:t>Решението е файл с име </a:t>
            </a:r>
            <a:r>
              <a:rPr lang="en-US" dirty="0">
                <a:solidFill>
                  <a:srgbClr val="FF0000"/>
                </a:solidFill>
                <a:latin typeface="Sofia Sans" pitchFamily="2" charset="0"/>
              </a:rPr>
              <a:t>a0</a:t>
            </a:r>
            <a:r>
              <a:rPr lang="bg-BG" dirty="0">
                <a:solidFill>
                  <a:srgbClr val="FF0000"/>
                </a:solidFill>
                <a:latin typeface="Sofia Sans" pitchFamily="2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Sofia Sans" pitchFamily="2" charset="0"/>
              </a:rPr>
              <a:t>-nnnnnnnnnn.html</a:t>
            </a:r>
            <a:r>
              <a:rPr lang="en-US" dirty="0"/>
              <a:t>,</a:t>
            </a:r>
            <a:br>
              <a:rPr lang="bg-BG" dirty="0"/>
            </a:br>
            <a:r>
              <a:rPr lang="bg-BG" dirty="0"/>
              <a:t>където </a:t>
            </a:r>
            <a:r>
              <a:rPr lang="en-US" dirty="0" err="1">
                <a:solidFill>
                  <a:srgbClr val="FF0000"/>
                </a:solidFill>
                <a:latin typeface="Sofia Sans" pitchFamily="2" charset="0"/>
              </a:rPr>
              <a:t>nnnnnnnnnn</a:t>
            </a:r>
            <a:r>
              <a:rPr lang="bg-BG" dirty="0"/>
              <a:t> е факултетният номер</a:t>
            </a:r>
          </a:p>
          <a:p>
            <a:pPr lvl="1"/>
            <a:r>
              <a:rPr lang="bg-BG" dirty="0"/>
              <a:t>Предава се през Мудъл</a:t>
            </a:r>
          </a:p>
          <a:p>
            <a:r>
              <a:rPr lang="bg-BG" dirty="0"/>
              <a:t>Срок</a:t>
            </a:r>
            <a:endParaRPr lang="en-US" dirty="0"/>
          </a:p>
          <a:p>
            <a:pPr lvl="1"/>
            <a:r>
              <a:rPr lang="bg-BG" dirty="0"/>
              <a:t>от 00:00 на 20.10.202</a:t>
            </a:r>
            <a:r>
              <a:rPr lang="en-US" dirty="0"/>
              <a:t>5</a:t>
            </a:r>
            <a:r>
              <a:rPr lang="bg-BG" dirty="0"/>
              <a:t> г.</a:t>
            </a:r>
          </a:p>
          <a:p>
            <a:pPr lvl="1"/>
            <a:r>
              <a:rPr lang="bg-BG" dirty="0"/>
              <a:t>до 23:59 на </a:t>
            </a:r>
            <a:r>
              <a:rPr lang="bg-BG" dirty="0">
                <a:solidFill>
                  <a:srgbClr val="FF0000"/>
                </a:solidFill>
                <a:latin typeface="Sofia Sans" pitchFamily="2" charset="0"/>
              </a:rPr>
              <a:t>26.10.202</a:t>
            </a:r>
            <a:r>
              <a:rPr lang="en-US" dirty="0">
                <a:solidFill>
                  <a:srgbClr val="FF0000"/>
                </a:solidFill>
                <a:latin typeface="Sofia Sans" pitchFamily="2" charset="0"/>
              </a:rPr>
              <a:t>5</a:t>
            </a:r>
            <a:r>
              <a:rPr lang="bg-BG" dirty="0"/>
              <a:t> г.</a:t>
            </a:r>
          </a:p>
        </p:txBody>
      </p:sp>
    </p:spTree>
    <p:extLst>
      <p:ext uri="{BB962C8B-B14F-4D97-AF65-F5344CB8AC3E}">
        <p14:creationId xmlns:p14="http://schemas.microsoft.com/office/powerpoint/2010/main" val="3961286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Край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8C00AC4-53BF-41C8-AF17-A38A4862CFC3}" vid="{7CB7B12D-64B7-41BE-BBE9-200BAEF2E5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186</Words>
  <Application>Microsoft Office PowerPoint</Application>
  <PresentationFormat>On-screen Show (16:9)</PresentationFormat>
  <Paragraphs>27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Roboto</vt:lpstr>
      <vt:lpstr>Sofia Sans</vt:lpstr>
      <vt:lpstr>Sofia Sans ExtraBold</vt:lpstr>
      <vt:lpstr>Sofia Sans Semi Condensed Light</vt:lpstr>
      <vt:lpstr>Calibri</vt:lpstr>
      <vt:lpstr>Theme1</vt:lpstr>
      <vt:lpstr>PowerPoint Presentation</vt:lpstr>
      <vt:lpstr>PowerPoint Presentation</vt:lpstr>
      <vt:lpstr>Група 1 - Космическа совалка</vt:lpstr>
      <vt:lpstr>PowerPoint Presentation</vt:lpstr>
      <vt:lpstr>PowerPoint Presentation</vt:lpstr>
      <vt:lpstr>PowerPoint Presentation</vt:lpstr>
      <vt:lpstr>Допълнителни изисквания</vt:lpstr>
      <vt:lpstr>PowerPoint Presentation</vt:lpstr>
      <vt:lpstr>Край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2025-10-01T11:57:36Z</dcterms:created>
  <dcterms:modified xsi:type="dcterms:W3CDTF">2025-10-10T07:29:36Z</dcterms:modified>
</cp:coreProperties>
</file>